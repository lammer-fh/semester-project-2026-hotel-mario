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02920" y="1463040"/>
            <a:ext cx="10972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Boutique Hotel Technikum</a:t>
            </a:r>
            <a:endParaRPr sz="1600"/>
          </a:p>
        </p:txBody>
      </p:sp>
      <p:sp>
        <p:nvSpPr>
          <p:cNvPr id="87" name="Google Shape;87;p13"/>
          <p:cNvSpPr txBox="1"/>
          <p:nvPr/>
        </p:nvSpPr>
        <p:spPr>
          <a:xfrm>
            <a:off x="502920" y="242316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A full-stack hotel booking app</a:t>
            </a:r>
            <a:endParaRPr sz="1600"/>
          </a:p>
        </p:txBody>
      </p:sp>
      <p:sp>
        <p:nvSpPr>
          <p:cNvPr id="88" name="Google Shape;88;p13"/>
          <p:cNvSpPr txBox="1"/>
          <p:nvPr/>
        </p:nvSpPr>
        <p:spPr>
          <a:xfrm>
            <a:off x="502920" y="3063240"/>
            <a:ext cx="8229600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u="none" strike="noStrike" cap="none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Group AE  ·  Hotel Mario  </a:t>
            </a:r>
            <a:r>
              <a:rPr lang="en-US" sz="1600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lang="en-US" sz="1600" b="0" u="none" strike="noStrike" cap="none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1600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Advanced Web Technologies</a:t>
            </a:r>
            <a:r>
              <a:rPr lang="en-US" sz="1600" b="0" u="none" strike="noStrike" cap="none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  ·  MSE</a:t>
            </a:r>
            <a:br>
              <a:rPr lang="en-US" sz="600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600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Artner Patrick, </a:t>
            </a:r>
            <a:r>
              <a:rPr lang="en-US" sz="1600" dirty="0" err="1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Auß</a:t>
            </a:r>
            <a:r>
              <a:rPr lang="en-US" sz="1600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 Michael, Bohrn Johannes, </a:t>
            </a:r>
            <a:r>
              <a:rPr lang="en-US" sz="1600" dirty="0" err="1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Neirukh</a:t>
            </a:r>
            <a:r>
              <a:rPr lang="en-US" sz="1600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 Jusef</a:t>
            </a:r>
            <a:endParaRPr sz="1600" dirty="0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02920" y="4413885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02925" y="4451971"/>
            <a:ext cx="16002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Ionic Vue 7</a:t>
            </a:r>
            <a:endParaRPr sz="1600"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2240280" y="4413885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240280" y="4451985"/>
            <a:ext cx="16002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Spring Boot 4</a:t>
            </a:r>
            <a:endParaRPr sz="1600"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3977640" y="4413885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977640" y="4451985"/>
            <a:ext cx="16002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MySQL 8</a:t>
            </a:r>
            <a:endParaRPr sz="1600"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5715000" y="4413885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5715000" y="4451985"/>
            <a:ext cx="16002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Clean Architecture</a:t>
            </a:r>
            <a:endParaRPr sz="1600" dirty="0"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7452360" y="4413885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7452360" y="4451985"/>
            <a:ext cx="16002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Pinia</a:t>
            </a:r>
            <a:endParaRPr sz="1600" dirty="0"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9189720" y="4413885"/>
            <a:ext cx="1600200" cy="347472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9189720" y="4451985"/>
            <a:ext cx="1600200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C</a:t>
            </a:r>
            <a:r>
              <a:rPr lang="en-US" sz="1200" b="1" i="0" u="none" strike="noStrike" cap="none" dirty="0">
                <a:solidFill>
                  <a:srgbClr val="FFFFFF"/>
                </a:solidFill>
                <a:latin typeface="Droid Serif"/>
                <a:ea typeface="Droid Serif"/>
                <a:cs typeface="Droid Serif"/>
                <a:sym typeface="Droid Serif"/>
              </a:rPr>
              <a:t>ontainers</a:t>
            </a:r>
            <a:endParaRPr sz="1600" dirty="0">
              <a:latin typeface="Droid Serif"/>
              <a:ea typeface="Droid Serif"/>
              <a:cs typeface="Droid Serif"/>
              <a:sym typeface="Droid Serif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02920" y="612648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300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0.06.</a:t>
            </a:r>
            <a:r>
              <a:rPr lang="en-US" sz="1300" b="0" i="0" u="none" strike="noStrike" cap="none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57200" y="164592"/>
            <a:ext cx="9144000" cy="6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sz="1700"/>
          </a:p>
        </p:txBody>
      </p:sp>
      <p:sp>
        <p:nvSpPr>
          <p:cNvPr id="109" name="Google Shape;109;p14"/>
          <p:cNvSpPr txBox="1"/>
          <p:nvPr/>
        </p:nvSpPr>
        <p:spPr>
          <a:xfrm>
            <a:off x="457200" y="77724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Walk the user journey end-to-end</a:t>
            </a:r>
            <a:endParaRPr sz="1600" dirty="0"/>
          </a:p>
        </p:txBody>
      </p:sp>
      <p:sp>
        <p:nvSpPr>
          <p:cNvPr id="110" name="Google Shape;110;p1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44830" y="1967865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727710" y="1940433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  Landing Page</a:t>
            </a:r>
            <a:endParaRPr sz="1800" dirty="0"/>
          </a:p>
        </p:txBody>
      </p:sp>
      <p:sp>
        <p:nvSpPr>
          <p:cNvPr id="113" name="Google Shape;113;p14"/>
          <p:cNvSpPr txBox="1"/>
          <p:nvPr/>
        </p:nvSpPr>
        <p:spPr>
          <a:xfrm>
            <a:off x="3653790" y="1940433"/>
            <a:ext cx="8229600" cy="38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Home screen - hotel overview, slideshow, CTA button</a:t>
            </a:r>
            <a:endParaRPr sz="1900" dirty="0"/>
          </a:p>
        </p:txBody>
      </p:sp>
      <p:sp>
        <p:nvSpPr>
          <p:cNvPr id="114" name="Google Shape;114;p14"/>
          <p:cNvSpPr/>
          <p:nvPr/>
        </p:nvSpPr>
        <p:spPr>
          <a:xfrm>
            <a:off x="544830" y="2681097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27710" y="2653665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  Room Selection</a:t>
            </a:r>
            <a:endParaRPr sz="1800"/>
          </a:p>
        </p:txBody>
      </p:sp>
      <p:sp>
        <p:nvSpPr>
          <p:cNvPr id="116" name="Google Shape;116;p14"/>
          <p:cNvSpPr txBox="1"/>
          <p:nvPr/>
        </p:nvSpPr>
        <p:spPr>
          <a:xfrm>
            <a:off x="3653790" y="2653665"/>
            <a:ext cx="8229600" cy="38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Filter by date range (two-step date picker), price, available-only toggle</a:t>
            </a:r>
            <a:endParaRPr sz="1900" dirty="0"/>
          </a:p>
        </p:txBody>
      </p:sp>
      <p:sp>
        <p:nvSpPr>
          <p:cNvPr id="117" name="Google Shape;117;p14"/>
          <p:cNvSpPr/>
          <p:nvPr/>
        </p:nvSpPr>
        <p:spPr>
          <a:xfrm>
            <a:off x="544830" y="3394329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727710" y="3366897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  Pagination</a:t>
            </a:r>
            <a:endParaRPr sz="1800"/>
          </a:p>
        </p:txBody>
      </p:sp>
      <p:sp>
        <p:nvSpPr>
          <p:cNvPr id="119" name="Google Shape;119;p14"/>
          <p:cNvSpPr txBox="1"/>
          <p:nvPr/>
        </p:nvSpPr>
        <p:spPr>
          <a:xfrm>
            <a:off x="3653790" y="3366897"/>
            <a:ext cx="8229600" cy="38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Step through pages - server-side, 5 rooms per page</a:t>
            </a:r>
            <a:endParaRPr sz="1900" dirty="0"/>
          </a:p>
        </p:txBody>
      </p:sp>
      <p:sp>
        <p:nvSpPr>
          <p:cNvPr id="120" name="Google Shape;120;p14"/>
          <p:cNvSpPr/>
          <p:nvPr/>
        </p:nvSpPr>
        <p:spPr>
          <a:xfrm>
            <a:off x="544830" y="4107561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727710" y="4080129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4  Book a Room</a:t>
            </a:r>
            <a:endParaRPr sz="1800"/>
          </a:p>
        </p:txBody>
      </p:sp>
      <p:sp>
        <p:nvSpPr>
          <p:cNvPr id="122" name="Google Shape;122;p14"/>
          <p:cNvSpPr txBox="1"/>
          <p:nvPr/>
        </p:nvSpPr>
        <p:spPr>
          <a:xfrm>
            <a:off x="3653790" y="4080129"/>
            <a:ext cx="8229600" cy="38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Select available room → form with validation → review screen</a:t>
            </a:r>
            <a:endParaRPr sz="1900"/>
          </a:p>
        </p:txBody>
      </p:sp>
      <p:sp>
        <p:nvSpPr>
          <p:cNvPr id="123" name="Google Shape;123;p14"/>
          <p:cNvSpPr/>
          <p:nvPr/>
        </p:nvSpPr>
        <p:spPr>
          <a:xfrm>
            <a:off x="544830" y="4820793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727710" y="4793361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5  Confirmation</a:t>
            </a:r>
            <a:endParaRPr sz="1800"/>
          </a:p>
        </p:txBody>
      </p:sp>
      <p:sp>
        <p:nvSpPr>
          <p:cNvPr id="125" name="Google Shape;125;p14"/>
          <p:cNvSpPr txBox="1"/>
          <p:nvPr/>
        </p:nvSpPr>
        <p:spPr>
          <a:xfrm>
            <a:off x="3653790" y="4793361"/>
            <a:ext cx="8229600" cy="38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Show confirmation card: booking ID, room image, hotel details, print to A4</a:t>
            </a:r>
            <a:endParaRPr sz="1900"/>
          </a:p>
        </p:txBody>
      </p:sp>
      <p:sp>
        <p:nvSpPr>
          <p:cNvPr id="126" name="Google Shape;126;p14"/>
          <p:cNvSpPr/>
          <p:nvPr/>
        </p:nvSpPr>
        <p:spPr>
          <a:xfrm>
            <a:off x="544830" y="5534025"/>
            <a:ext cx="64008" cy="384048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727710" y="5506593"/>
            <a:ext cx="292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6  Error path</a:t>
            </a:r>
            <a:endParaRPr sz="1800"/>
          </a:p>
        </p:txBody>
      </p:sp>
      <p:sp>
        <p:nvSpPr>
          <p:cNvPr id="128" name="Google Shape;128;p14"/>
          <p:cNvSpPr txBox="1"/>
          <p:nvPr/>
        </p:nvSpPr>
        <p:spPr>
          <a:xfrm>
            <a:off x="3653790" y="5506593"/>
            <a:ext cx="8229600" cy="38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Attempt to book an already taken room → 409 'Room no longer available'</a:t>
            </a:r>
            <a:endParaRPr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457200" y="164592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Workflow</a:t>
            </a:r>
            <a:endParaRPr sz="1800"/>
          </a:p>
        </p:txBody>
      </p:sp>
      <p:sp>
        <p:nvSpPr>
          <p:cNvPr id="136" name="Google Shape;136;p15"/>
          <p:cNvSpPr txBox="1"/>
          <p:nvPr/>
        </p:nvSpPr>
        <p:spPr>
          <a:xfrm>
            <a:off x="457200" y="777240"/>
            <a:ext cx="9144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u="none" strike="noStrike" cap="none" dirty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Clean Architecture Scaffolding from API Spec</a:t>
            </a:r>
            <a:endParaRPr sz="1700" dirty="0"/>
          </a:p>
        </p:txBody>
      </p:sp>
      <p:sp>
        <p:nvSpPr>
          <p:cNvPr id="137" name="Google Shape;137;p15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457200" y="1463040"/>
            <a:ext cx="530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we gave AI</a:t>
            </a:r>
            <a:endParaRPr sz="1600" dirty="0"/>
          </a:p>
        </p:txBody>
      </p:sp>
      <p:sp>
        <p:nvSpPr>
          <p:cNvPr id="139" name="Google Shape;139;p15"/>
          <p:cNvSpPr txBox="1"/>
          <p:nvPr/>
        </p:nvSpPr>
        <p:spPr>
          <a:xfrm>
            <a:off x="457200" y="1863090"/>
            <a:ext cx="5303400" cy="13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Our ER diagram (ROOM, EXTRA, BOOKING, ROOM_EXTRA)</a:t>
            </a:r>
            <a:endParaRPr sz="16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The </a:t>
            </a:r>
            <a:r>
              <a:rPr lang="en-US" sz="15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OpenAPI</a:t>
            </a: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spec we wrote (endpoints, DTOs, pagination shape)</a:t>
            </a:r>
            <a:endParaRPr sz="16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Architecture decision: component packages, v1 versioning, interface/</a:t>
            </a:r>
            <a:r>
              <a:rPr lang="en-US" sz="15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impl</a:t>
            </a: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split, Lombok</a:t>
            </a:r>
            <a:endParaRPr sz="1600" dirty="0"/>
          </a:p>
        </p:txBody>
      </p:sp>
      <p:sp>
        <p:nvSpPr>
          <p:cNvPr id="140" name="Google Shape;140;p15"/>
          <p:cNvSpPr txBox="1"/>
          <p:nvPr/>
        </p:nvSpPr>
        <p:spPr>
          <a:xfrm>
            <a:off x="457200" y="3253036"/>
            <a:ext cx="530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What AI generated (one pass)</a:t>
            </a:r>
            <a:endParaRPr sz="1600" dirty="0"/>
          </a:p>
        </p:txBody>
      </p:sp>
      <p:sp>
        <p:nvSpPr>
          <p:cNvPr id="141" name="Google Shape;141;p15"/>
          <p:cNvSpPr txBox="1"/>
          <p:nvPr/>
        </p:nvSpPr>
        <p:spPr>
          <a:xfrm>
            <a:off x="457200" y="3571875"/>
            <a:ext cx="5303400" cy="18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Entities, JPA repositories, service interfaces + </a:t>
            </a:r>
            <a:r>
              <a:rPr lang="en-US" sz="15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impls</a:t>
            </a: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mappers</a:t>
            </a:r>
            <a:endParaRPr sz="16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@EmailsMatch and @CheckOutAfterCheckIn as proper class-level constraint annotations</a:t>
            </a:r>
            <a:endParaRPr sz="16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 sz="15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GlobalExceptionHandler</a:t>
            </a: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returning structured {status, message, errors[]}</a:t>
            </a:r>
            <a:endParaRPr sz="16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13 E2E tests (</a:t>
            </a:r>
            <a:r>
              <a:rPr lang="en-US" sz="15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Testcontainers</a:t>
            </a: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1500" b="0" i="0" u="none" strike="noStrike" cap="none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MockMvc</a:t>
            </a:r>
            <a:r>
              <a:rPr lang="en-US" sz="1500" b="0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) covering overlap, 409, pagination</a:t>
            </a:r>
            <a:endParaRPr sz="1600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457200" y="5488305"/>
            <a:ext cx="53034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What we changed</a:t>
            </a:r>
            <a:endParaRPr sz="2000" dirty="0"/>
          </a:p>
        </p:txBody>
      </p:sp>
      <p:sp>
        <p:nvSpPr>
          <p:cNvPr id="143" name="Google Shape;143;p15"/>
          <p:cNvSpPr txBox="1"/>
          <p:nvPr/>
        </p:nvSpPr>
        <p:spPr>
          <a:xfrm>
            <a:off x="457200" y="5855970"/>
            <a:ext cx="5303400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5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 sz="1500" b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Manually check if generated output works</a:t>
            </a:r>
          </a:p>
          <a:p>
            <a:pPr lvl="0"/>
            <a:r>
              <a:rPr lang="en-US" sz="15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 sz="1500" b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Minor corrections only - one wrong Spring Boot 4 import, one overly broad exception catch</a:t>
            </a:r>
            <a:endParaRPr sz="1700" dirty="0"/>
          </a:p>
        </p:txBody>
      </p:sp>
      <p:sp>
        <p:nvSpPr>
          <p:cNvPr id="144" name="Google Shape;144;p15"/>
          <p:cNvSpPr txBox="1"/>
          <p:nvPr/>
        </p:nvSpPr>
        <p:spPr>
          <a:xfrm>
            <a:off x="6035040" y="1463040"/>
            <a:ext cx="576072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Example: AI-generated cross‑field validation</a:t>
            </a:r>
            <a:endParaRPr dirty="0"/>
          </a:p>
        </p:txBody>
      </p:sp>
      <p:sp>
        <p:nvSpPr>
          <p:cNvPr id="145" name="Google Shape;145;p15"/>
          <p:cNvSpPr/>
          <p:nvPr/>
        </p:nvSpPr>
        <p:spPr>
          <a:xfrm>
            <a:off x="6035040" y="1920240"/>
            <a:ext cx="5852160" cy="4114800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6035040" y="2011680"/>
            <a:ext cx="5852160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@EmailsMatch                           // class-level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@CheckOutAfterCheckIn                  // class-level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@Data @Builder @NoArgsConstructor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BookingRequestDto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@NotBlank @Email  String email;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@NotBlank         String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emailConfirmation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@FutureOrPresent 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LocalDate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checkIn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LocalDate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checkOut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// ...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CDD6F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// Validator generated correctly first attempt: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EmailsMatchValidator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implements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ConstraintValidator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EmailsMatch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BookingRequestDto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lang="en-US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public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isValid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BookingRequestDto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dto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, ...)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lang="en-US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dto.getEmail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().equals(</a:t>
            </a:r>
            <a:r>
              <a:rPr lang="en-US" sz="1200" dirty="0" err="1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dto.getEmailConfirmation</a:t>
            </a: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CDD6F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lang="de-AT" sz="1200" dirty="0"/>
          </a:p>
        </p:txBody>
      </p:sp>
      <p:sp>
        <p:nvSpPr>
          <p:cNvPr id="147" name="Google Shape;147;p15"/>
          <p:cNvSpPr txBox="1"/>
          <p:nvPr/>
        </p:nvSpPr>
        <p:spPr>
          <a:xfrm>
            <a:off x="6035040" y="6080760"/>
            <a:ext cx="57606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Human decision: we defined the architecture and validation rules - AI filled in the boilerplate correctly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-127" y="-6096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Surprised Us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457200" y="753345"/>
            <a:ext cx="9144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One thing easier than expected · one thing it got wrong</a:t>
            </a:r>
            <a:endParaRPr sz="1700"/>
          </a:p>
        </p:txBody>
      </p:sp>
      <p:sp>
        <p:nvSpPr>
          <p:cNvPr id="156" name="Google Shape;156;p16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6576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365760" y="1417320"/>
            <a:ext cx="5394960" cy="502920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502920" y="1463040"/>
            <a:ext cx="512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Easier than expected</a:t>
            </a:r>
            <a:endParaRPr sz="1800"/>
          </a:p>
        </p:txBody>
      </p:sp>
      <p:sp>
        <p:nvSpPr>
          <p:cNvPr id="160" name="Google Shape;160;p16"/>
          <p:cNvSpPr txBox="1"/>
          <p:nvPr/>
        </p:nvSpPr>
        <p:spPr>
          <a:xfrm>
            <a:off x="548640" y="2011680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Full-stack scaffolding from architecture doc</a:t>
            </a:r>
            <a:endParaRPr sz="1600"/>
          </a:p>
        </p:txBody>
      </p:sp>
      <p:sp>
        <p:nvSpPr>
          <p:cNvPr id="161" name="Google Shape;161;p16"/>
          <p:cNvSpPr txBox="1"/>
          <p:nvPr/>
        </p:nvSpPr>
        <p:spPr>
          <a:xfrm>
            <a:off x="548640" y="2359152"/>
            <a:ext cx="50292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 handed AI our ER diagram and API spec.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It generated the entire clean-architecture backend skeleton - entities, repos, services, mappers, DTOs, controllers - in one pass. Only minor corrections needed.</a:t>
            </a:r>
            <a:endParaRPr dirty="0"/>
          </a:p>
        </p:txBody>
      </p:sp>
      <p:sp>
        <p:nvSpPr>
          <p:cNvPr id="162" name="Google Shape;162;p16"/>
          <p:cNvSpPr txBox="1"/>
          <p:nvPr/>
        </p:nvSpPr>
        <p:spPr>
          <a:xfrm>
            <a:off x="548640" y="3396615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Cross-field validation annotations</a:t>
            </a:r>
            <a:endParaRPr sz="1600"/>
          </a:p>
        </p:txBody>
      </p:sp>
      <p:sp>
        <p:nvSpPr>
          <p:cNvPr id="163" name="Google Shape;163;p16"/>
          <p:cNvSpPr txBox="1"/>
          <p:nvPr/>
        </p:nvSpPr>
        <p:spPr>
          <a:xfrm>
            <a:off x="548640" y="3744087"/>
            <a:ext cx="50292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@EmailsMatch and @CheckOutAfterCheckIn as proper class-level constraint annotations with validator classes - correct on the first attempt. Would have taken us 30 min to research and write manually.</a:t>
            </a:r>
            <a:endParaRPr dirty="0"/>
          </a:p>
        </p:txBody>
      </p:sp>
      <p:sp>
        <p:nvSpPr>
          <p:cNvPr id="164" name="Google Shape;164;p16"/>
          <p:cNvSpPr txBox="1"/>
          <p:nvPr/>
        </p:nvSpPr>
        <p:spPr>
          <a:xfrm>
            <a:off x="548640" y="4838700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Test coverage from specs</a:t>
            </a:r>
            <a:endParaRPr sz="1600"/>
          </a:p>
        </p:txBody>
      </p:sp>
      <p:sp>
        <p:nvSpPr>
          <p:cNvPr id="165" name="Google Shape;165;p16"/>
          <p:cNvSpPr txBox="1"/>
          <p:nvPr/>
        </p:nvSpPr>
        <p:spPr>
          <a:xfrm>
            <a:off x="548640" y="5186172"/>
            <a:ext cx="50292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Given endpoint descriptions, AI wrote 13 meaningful E2E tests (</a:t>
            </a:r>
            <a:r>
              <a:rPr lang="en-US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Testcontainers</a:t>
            </a: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MockMvc</a:t>
            </a: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) including overlap checks and 409 conflict cases we hadn't thought of.</a:t>
            </a:r>
            <a:endParaRPr dirty="0"/>
          </a:p>
        </p:txBody>
      </p:sp>
      <p:sp>
        <p:nvSpPr>
          <p:cNvPr id="166" name="Google Shape;166;p16"/>
          <p:cNvSpPr/>
          <p:nvPr/>
        </p:nvSpPr>
        <p:spPr>
          <a:xfrm>
            <a:off x="640080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400800" y="1417320"/>
            <a:ext cx="5394960" cy="502920"/>
          </a:xfrm>
          <a:prstGeom prst="rect">
            <a:avLst/>
          </a:prstGeom>
          <a:solidFill>
            <a:srgbClr val="E85D04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537960" y="1463040"/>
            <a:ext cx="5120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Where it led us astray</a:t>
            </a:r>
            <a:endParaRPr sz="1800"/>
          </a:p>
        </p:txBody>
      </p:sp>
      <p:sp>
        <p:nvSpPr>
          <p:cNvPr id="169" name="Google Shape;169;p16"/>
          <p:cNvSpPr txBox="1"/>
          <p:nvPr/>
        </p:nvSpPr>
        <p:spPr>
          <a:xfrm>
            <a:off x="6583680" y="2011680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Fake pagination (peer review catch)</a:t>
            </a:r>
            <a:endParaRPr sz="1600"/>
          </a:p>
        </p:txBody>
      </p:sp>
      <p:sp>
        <p:nvSpPr>
          <p:cNvPr id="170" name="Google Shape;170;p16"/>
          <p:cNvSpPr txBox="1"/>
          <p:nvPr/>
        </p:nvSpPr>
        <p:spPr>
          <a:xfrm>
            <a:off x="6583680" y="2359152"/>
            <a:ext cx="50292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AI generated </a:t>
            </a:r>
            <a:r>
              <a:rPr lang="en-US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fetchRooms</a:t>
            </a: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() hardcoded to </a:t>
            </a:r>
            <a:r>
              <a:rPr lang="en-US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getRooms</a:t>
            </a: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(0, 20) - all rooms in one page. Pagination buttons existed but were cosmetic. Only caught during peer review.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Root cause: we didn't specify 'real server-side pagination' explicitly</a:t>
            </a:r>
            <a:endParaRPr dirty="0"/>
          </a:p>
        </p:txBody>
      </p:sp>
      <p:sp>
        <p:nvSpPr>
          <p:cNvPr id="171" name="Google Shape;171;p16"/>
          <p:cNvSpPr txBox="1"/>
          <p:nvPr/>
        </p:nvSpPr>
        <p:spPr>
          <a:xfrm>
            <a:off x="6583680" y="3396615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Wrong TypeScript fix loops</a:t>
            </a:r>
            <a:endParaRPr sz="1600"/>
          </a:p>
        </p:txBody>
      </p:sp>
      <p:sp>
        <p:nvSpPr>
          <p:cNvPr id="172" name="Google Shape;172;p16"/>
          <p:cNvSpPr txBox="1"/>
          <p:nvPr/>
        </p:nvSpPr>
        <p:spPr>
          <a:xfrm>
            <a:off x="6583680" y="3744087"/>
            <a:ext cx="50292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AI misinterpreted a TypeScript error. Instead of removing the incorrect return‑type annotation, it added an invalid CSS-property (border: 'none’). It took two prompts to fix because the union‑type limitation wasn’t explained at first.</a:t>
            </a:r>
            <a:endParaRPr lang="en-US" dirty="0"/>
          </a:p>
        </p:txBody>
      </p:sp>
      <p:sp>
        <p:nvSpPr>
          <p:cNvPr id="173" name="Google Shape;173;p16"/>
          <p:cNvSpPr txBox="1"/>
          <p:nvPr/>
        </p:nvSpPr>
        <p:spPr>
          <a:xfrm>
            <a:off x="6583680" y="4838700"/>
            <a:ext cx="5029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imageUrl mismatch</a:t>
            </a:r>
            <a:endParaRPr sz="1600"/>
          </a:p>
        </p:txBody>
      </p:sp>
      <p:sp>
        <p:nvSpPr>
          <p:cNvPr id="174" name="Google Shape;174;p16"/>
          <p:cNvSpPr txBox="1"/>
          <p:nvPr/>
        </p:nvSpPr>
        <p:spPr>
          <a:xfrm>
            <a:off x="6583680" y="5186172"/>
            <a:ext cx="50292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Backend </a:t>
            </a:r>
            <a:r>
              <a:rPr lang="en-US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DataSeeder</a:t>
            </a:r>
            <a:r>
              <a:rPr lang="en-US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used filename-based paths (/images/rooms/standard.jpg) but the actual public files are numbered (/images/rooms/1.jpg). AI never caught this - we found it visually.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Lesson learned: AI can't verify runtime asset resolution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/>
          <p:nvPr/>
        </p:nvSpPr>
        <p:spPr>
          <a:xfrm>
            <a:off x="0" y="0"/>
            <a:ext cx="12189000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502920" y="2590065"/>
            <a:ext cx="109728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1900" dirty="0"/>
          </a:p>
        </p:txBody>
      </p:sp>
      <p:sp>
        <p:nvSpPr>
          <p:cNvPr id="262" name="Google Shape;262;p19"/>
          <p:cNvSpPr txBox="1"/>
          <p:nvPr/>
        </p:nvSpPr>
        <p:spPr>
          <a:xfrm>
            <a:off x="502920" y="5959230"/>
            <a:ext cx="10058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600" i="1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Group AE  ·  Hotel Mario ·  Advanced Web Technologies  ·  MSE</a:t>
            </a:r>
            <a:br>
              <a:rPr lang="en-US" sz="1600" i="1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i="1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Artner Patrick, Auß Michael, Bohrn Johannes, Neirukh Jusef</a:t>
            </a:r>
            <a:endParaRPr sz="1600" i="1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i="1">
              <a:solidFill>
                <a:srgbClr val="6B7A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457200" y="164592"/>
            <a:ext cx="91440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Architecture at a Glance</a:t>
            </a:r>
            <a:endParaRPr sz="1900"/>
          </a:p>
        </p:txBody>
      </p:sp>
      <p:sp>
        <p:nvSpPr>
          <p:cNvPr id="182" name="Google Shape;182;p17"/>
          <p:cNvSpPr txBox="1"/>
          <p:nvPr/>
        </p:nvSpPr>
        <p:spPr>
          <a:xfrm>
            <a:off x="457200" y="765292"/>
            <a:ext cx="9144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Clean Architecture · Atomic Design · Pinia stores</a:t>
            </a:r>
            <a:endParaRPr sz="1700"/>
          </a:p>
        </p:txBody>
      </p:sp>
      <p:sp>
        <p:nvSpPr>
          <p:cNvPr id="183" name="Google Shape;183;p17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36576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365760" y="1417320"/>
            <a:ext cx="539496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502920" y="1444752"/>
            <a:ext cx="5120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- Spring Boot 4, Java</a:t>
            </a:r>
            <a:endParaRPr sz="1800" dirty="0"/>
          </a:p>
        </p:txBody>
      </p:sp>
      <p:sp>
        <p:nvSpPr>
          <p:cNvPr id="187" name="Google Shape;187;p17"/>
          <p:cNvSpPr txBox="1"/>
          <p:nvPr/>
        </p:nvSpPr>
        <p:spPr>
          <a:xfrm>
            <a:off x="548640" y="1920240"/>
            <a:ext cx="192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dirty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config/</a:t>
            </a:r>
            <a:endParaRPr sz="1700" dirty="0"/>
          </a:p>
        </p:txBody>
      </p:sp>
      <p:sp>
        <p:nvSpPr>
          <p:cNvPr id="188" name="Google Shape;188;p17"/>
          <p:cNvSpPr txBox="1"/>
          <p:nvPr/>
        </p:nvSpPr>
        <p:spPr>
          <a:xfrm>
            <a:off x="2468880" y="1920240"/>
            <a:ext cx="31089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HotelConfig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DataSeeder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WebConfig</a:t>
            </a:r>
            <a:endParaRPr sz="1300" dirty="0"/>
          </a:p>
        </p:txBody>
      </p:sp>
      <p:sp>
        <p:nvSpPr>
          <p:cNvPr id="189" name="Google Shape;189;p17"/>
          <p:cNvSpPr txBox="1"/>
          <p:nvPr/>
        </p:nvSpPr>
        <p:spPr>
          <a:xfrm>
            <a:off x="548640" y="2361438"/>
            <a:ext cx="192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common/</a:t>
            </a:r>
            <a:endParaRPr sz="1700"/>
          </a:p>
        </p:txBody>
      </p:sp>
      <p:sp>
        <p:nvSpPr>
          <p:cNvPr id="190" name="Google Shape;190;p17"/>
          <p:cNvSpPr txBox="1"/>
          <p:nvPr/>
        </p:nvSpPr>
        <p:spPr>
          <a:xfrm>
            <a:off x="2468880" y="2361438"/>
            <a:ext cx="31089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GlobalExceptionHandler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PageResult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exceptions</a:t>
            </a:r>
            <a:endParaRPr sz="1300" dirty="0"/>
          </a:p>
        </p:txBody>
      </p:sp>
      <p:sp>
        <p:nvSpPr>
          <p:cNvPr id="191" name="Google Shape;191;p17"/>
          <p:cNvSpPr txBox="1"/>
          <p:nvPr/>
        </p:nvSpPr>
        <p:spPr>
          <a:xfrm>
            <a:off x="548640" y="2916936"/>
            <a:ext cx="192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components/rooms/</a:t>
            </a:r>
            <a:endParaRPr sz="1700"/>
          </a:p>
        </p:txBody>
      </p:sp>
      <p:sp>
        <p:nvSpPr>
          <p:cNvPr id="192" name="Google Shape;192;p17"/>
          <p:cNvSpPr txBox="1"/>
          <p:nvPr/>
        </p:nvSpPr>
        <p:spPr>
          <a:xfrm>
            <a:off x="2468880" y="2916936"/>
            <a:ext cx="31089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api/v1 → service → repository → model</a:t>
            </a:r>
            <a:endParaRPr sz="1300"/>
          </a:p>
        </p:txBody>
      </p:sp>
      <p:sp>
        <p:nvSpPr>
          <p:cNvPr id="193" name="Google Shape;193;p17"/>
          <p:cNvSpPr txBox="1"/>
          <p:nvPr/>
        </p:nvSpPr>
        <p:spPr>
          <a:xfrm>
            <a:off x="548640" y="3424809"/>
            <a:ext cx="192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components/bookings/</a:t>
            </a:r>
            <a:endParaRPr sz="1700"/>
          </a:p>
        </p:txBody>
      </p:sp>
      <p:sp>
        <p:nvSpPr>
          <p:cNvPr id="194" name="Google Shape;194;p17"/>
          <p:cNvSpPr txBox="1"/>
          <p:nvPr/>
        </p:nvSpPr>
        <p:spPr>
          <a:xfrm>
            <a:off x="2468880" y="3424809"/>
            <a:ext cx="31089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api/v1 → service → repository → model</a:t>
            </a:r>
            <a:endParaRPr sz="1300"/>
          </a:p>
        </p:txBody>
      </p:sp>
      <p:sp>
        <p:nvSpPr>
          <p:cNvPr id="195" name="Google Shape;195;p17"/>
          <p:cNvSpPr txBox="1"/>
          <p:nvPr/>
        </p:nvSpPr>
        <p:spPr>
          <a:xfrm>
            <a:off x="548640" y="3856482"/>
            <a:ext cx="192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  api/dtos/v1/</a:t>
            </a:r>
            <a:endParaRPr sz="1700"/>
          </a:p>
        </p:txBody>
      </p:sp>
      <p:sp>
        <p:nvSpPr>
          <p:cNvPr id="196" name="Google Shape;196;p17"/>
          <p:cNvSpPr txBox="1"/>
          <p:nvPr/>
        </p:nvSpPr>
        <p:spPr>
          <a:xfrm>
            <a:off x="2468880" y="3856482"/>
            <a:ext cx="31089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RoomDto, BookingRequestDto, BookingConfirmationDto …</a:t>
            </a:r>
            <a:endParaRPr sz="1300"/>
          </a:p>
        </p:txBody>
      </p:sp>
      <p:sp>
        <p:nvSpPr>
          <p:cNvPr id="197" name="Google Shape;197;p17"/>
          <p:cNvSpPr txBox="1"/>
          <p:nvPr/>
        </p:nvSpPr>
        <p:spPr>
          <a:xfrm>
            <a:off x="548640" y="4421505"/>
            <a:ext cx="192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  api/mapper/v1/</a:t>
            </a:r>
            <a:endParaRPr sz="1700"/>
          </a:p>
        </p:txBody>
      </p:sp>
      <p:sp>
        <p:nvSpPr>
          <p:cNvPr id="198" name="Google Shape;198;p17"/>
          <p:cNvSpPr txBox="1"/>
          <p:nvPr/>
        </p:nvSpPr>
        <p:spPr>
          <a:xfrm>
            <a:off x="2468880" y="4421505"/>
            <a:ext cx="31089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RoomMapper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BookingMapper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(interface +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impl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 dirty="0"/>
          </a:p>
        </p:txBody>
      </p:sp>
      <p:sp>
        <p:nvSpPr>
          <p:cNvPr id="199" name="Google Shape;199;p17"/>
          <p:cNvSpPr txBox="1"/>
          <p:nvPr/>
        </p:nvSpPr>
        <p:spPr>
          <a:xfrm>
            <a:off x="548640" y="4977003"/>
            <a:ext cx="192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  service/</a:t>
            </a:r>
            <a:endParaRPr sz="1700"/>
          </a:p>
        </p:txBody>
      </p:sp>
      <p:sp>
        <p:nvSpPr>
          <p:cNvPr id="200" name="Google Shape;200;p17"/>
          <p:cNvSpPr txBox="1"/>
          <p:nvPr/>
        </p:nvSpPr>
        <p:spPr>
          <a:xfrm>
            <a:off x="2468880" y="4977003"/>
            <a:ext cx="31089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RoomService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RoomAvailabilityService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(interface +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impl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300" dirty="0"/>
          </a:p>
        </p:txBody>
      </p:sp>
      <p:sp>
        <p:nvSpPr>
          <p:cNvPr id="201" name="Google Shape;201;p17"/>
          <p:cNvSpPr txBox="1"/>
          <p:nvPr/>
        </p:nvSpPr>
        <p:spPr>
          <a:xfrm>
            <a:off x="548640" y="5542026"/>
            <a:ext cx="1920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  repository/</a:t>
            </a:r>
            <a:endParaRPr sz="1700"/>
          </a:p>
        </p:txBody>
      </p:sp>
      <p:sp>
        <p:nvSpPr>
          <p:cNvPr id="202" name="Google Shape;202;p17"/>
          <p:cNvSpPr txBox="1"/>
          <p:nvPr/>
        </p:nvSpPr>
        <p:spPr>
          <a:xfrm>
            <a:off x="2468880" y="5542026"/>
            <a:ext cx="31089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JPA: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RoomRepository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RoomAvailabilityRepository</a:t>
            </a:r>
            <a:endParaRPr sz="1300" dirty="0"/>
          </a:p>
        </p:txBody>
      </p:sp>
      <p:sp>
        <p:nvSpPr>
          <p:cNvPr id="203" name="Google Shape;203;p17"/>
          <p:cNvSpPr/>
          <p:nvPr/>
        </p:nvSpPr>
        <p:spPr>
          <a:xfrm>
            <a:off x="640080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6400800" y="1417320"/>
            <a:ext cx="539496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6537960" y="1444752"/>
            <a:ext cx="5120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- Ionic &amp; Vue, TypeScript</a:t>
            </a:r>
            <a:endParaRPr sz="1800" dirty="0"/>
          </a:p>
        </p:txBody>
      </p:sp>
      <p:sp>
        <p:nvSpPr>
          <p:cNvPr id="206" name="Google Shape;206;p17"/>
          <p:cNvSpPr txBox="1"/>
          <p:nvPr/>
        </p:nvSpPr>
        <p:spPr>
          <a:xfrm>
            <a:off x="6583680" y="1920240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views/</a:t>
            </a:r>
            <a:endParaRPr sz="1700"/>
          </a:p>
        </p:txBody>
      </p:sp>
      <p:sp>
        <p:nvSpPr>
          <p:cNvPr id="207" name="Google Shape;207;p17"/>
          <p:cNvSpPr txBox="1"/>
          <p:nvPr/>
        </p:nvSpPr>
        <p:spPr>
          <a:xfrm>
            <a:off x="8595360" y="1920240"/>
            <a:ext cx="3017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RoomSelectionView, BookingView, BookingReviewView, BookingDetailsView</a:t>
            </a:r>
            <a:endParaRPr sz="1300"/>
          </a:p>
        </p:txBody>
      </p:sp>
      <p:sp>
        <p:nvSpPr>
          <p:cNvPr id="208" name="Google Shape;208;p17"/>
          <p:cNvSpPr txBox="1"/>
          <p:nvPr/>
        </p:nvSpPr>
        <p:spPr>
          <a:xfrm>
            <a:off x="6583680" y="2462403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components/atoms/</a:t>
            </a:r>
            <a:endParaRPr sz="1700"/>
          </a:p>
        </p:txBody>
      </p:sp>
      <p:sp>
        <p:nvSpPr>
          <p:cNvPr id="209" name="Google Shape;209;p17"/>
          <p:cNvSpPr txBox="1"/>
          <p:nvPr/>
        </p:nvSpPr>
        <p:spPr>
          <a:xfrm>
            <a:off x="8595360" y="2462403"/>
            <a:ext cx="30174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ExtraChip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AvailabilityBadge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DetailRow</a:t>
            </a:r>
            <a:endParaRPr sz="1300" dirty="0"/>
          </a:p>
        </p:txBody>
      </p:sp>
      <p:sp>
        <p:nvSpPr>
          <p:cNvPr id="210" name="Google Shape;210;p17"/>
          <p:cNvSpPr txBox="1"/>
          <p:nvPr/>
        </p:nvSpPr>
        <p:spPr>
          <a:xfrm>
            <a:off x="6583680" y="2890266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components/molecules/</a:t>
            </a:r>
            <a:endParaRPr sz="1700"/>
          </a:p>
        </p:txBody>
      </p:sp>
      <p:sp>
        <p:nvSpPr>
          <p:cNvPr id="211" name="Google Shape;211;p17"/>
          <p:cNvSpPr txBox="1"/>
          <p:nvPr/>
        </p:nvSpPr>
        <p:spPr>
          <a:xfrm>
            <a:off x="8595360" y="2890266"/>
            <a:ext cx="301740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RoomCard, BookingForm, DatePickerModal, ImageSlider, SharedHeader/Footer</a:t>
            </a:r>
            <a:endParaRPr sz="1300"/>
          </a:p>
        </p:txBody>
      </p:sp>
      <p:sp>
        <p:nvSpPr>
          <p:cNvPr id="212" name="Google Shape;212;p17"/>
          <p:cNvSpPr txBox="1"/>
          <p:nvPr/>
        </p:nvSpPr>
        <p:spPr>
          <a:xfrm>
            <a:off x="6583680" y="3622929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components/organisms/</a:t>
            </a:r>
            <a:endParaRPr sz="1700"/>
          </a:p>
        </p:txBody>
      </p:sp>
      <p:sp>
        <p:nvSpPr>
          <p:cNvPr id="213" name="Google Shape;213;p17"/>
          <p:cNvSpPr txBox="1"/>
          <p:nvPr/>
        </p:nvSpPr>
        <p:spPr>
          <a:xfrm>
            <a:off x="8595360" y="3622929"/>
            <a:ext cx="3017400" cy="292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RoomList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FilterBar</a:t>
            </a:r>
            <a:endParaRPr sz="1300" dirty="0"/>
          </a:p>
        </p:txBody>
      </p:sp>
      <p:sp>
        <p:nvSpPr>
          <p:cNvPr id="214" name="Google Shape;214;p17"/>
          <p:cNvSpPr txBox="1"/>
          <p:nvPr/>
        </p:nvSpPr>
        <p:spPr>
          <a:xfrm>
            <a:off x="6583680" y="4012692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stores/</a:t>
            </a:r>
            <a:endParaRPr sz="1700"/>
          </a:p>
        </p:txBody>
      </p:sp>
      <p:sp>
        <p:nvSpPr>
          <p:cNvPr id="215" name="Google Shape;215;p17"/>
          <p:cNvSpPr txBox="1"/>
          <p:nvPr/>
        </p:nvSpPr>
        <p:spPr>
          <a:xfrm>
            <a:off x="8595360" y="4012692"/>
            <a:ext cx="301740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useRoomStore (rooms, pagination), useFilterStore (dates, price), useBookingStore</a:t>
            </a:r>
            <a:endParaRPr sz="1300"/>
          </a:p>
        </p:txBody>
      </p:sp>
      <p:sp>
        <p:nvSpPr>
          <p:cNvPr id="216" name="Google Shape;216;p17"/>
          <p:cNvSpPr txBox="1"/>
          <p:nvPr/>
        </p:nvSpPr>
        <p:spPr>
          <a:xfrm>
            <a:off x="6583680" y="4802505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services/api.ts</a:t>
            </a:r>
            <a:endParaRPr sz="1700"/>
          </a:p>
        </p:txBody>
      </p:sp>
      <p:sp>
        <p:nvSpPr>
          <p:cNvPr id="217" name="Google Shape;217;p17"/>
          <p:cNvSpPr txBox="1"/>
          <p:nvPr/>
        </p:nvSpPr>
        <p:spPr>
          <a:xfrm>
            <a:off x="8595360" y="4802505"/>
            <a:ext cx="3017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Typed DTOs,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getRooms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(),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checkAvailability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(),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bookRoom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sz="1300" dirty="0"/>
          </a:p>
        </p:txBody>
      </p:sp>
      <p:sp>
        <p:nvSpPr>
          <p:cNvPr id="218" name="Google Shape;218;p17"/>
          <p:cNvSpPr txBox="1"/>
          <p:nvPr/>
        </p:nvSpPr>
        <p:spPr>
          <a:xfrm>
            <a:off x="6583680" y="5382768"/>
            <a:ext cx="201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router/</a:t>
            </a:r>
            <a:endParaRPr sz="1700"/>
          </a:p>
        </p:txBody>
      </p:sp>
      <p:sp>
        <p:nvSpPr>
          <p:cNvPr id="219" name="Google Shape;219;p17"/>
          <p:cNvSpPr txBox="1"/>
          <p:nvPr/>
        </p:nvSpPr>
        <p:spPr>
          <a:xfrm>
            <a:off x="8595360" y="5382768"/>
            <a:ext cx="3017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Vue Router - /home, /room, /booking/:id, /booking/details</a:t>
            </a:r>
            <a:endParaRPr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457200" y="164592"/>
            <a:ext cx="9144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Peer Review 2 - Feedback &amp; Response</a:t>
            </a:r>
            <a:endParaRPr dirty="0"/>
          </a:p>
        </p:txBody>
      </p:sp>
      <p:sp>
        <p:nvSpPr>
          <p:cNvPr id="227" name="Google Shape;227;p18"/>
          <p:cNvSpPr txBox="1"/>
          <p:nvPr/>
        </p:nvSpPr>
        <p:spPr>
          <a:xfrm>
            <a:off x="457200" y="77724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Component complexity · code duplication · atomic design</a:t>
            </a:r>
            <a:endParaRPr sz="1600"/>
          </a:p>
        </p:txBody>
      </p:sp>
      <p:sp>
        <p:nvSpPr>
          <p:cNvPr id="228" name="Google Shape;228;p18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457200" y="1463040"/>
            <a:ext cx="5303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the reviewer flagged</a:t>
            </a:r>
            <a:endParaRPr sz="1600"/>
          </a:p>
        </p:txBody>
      </p:sp>
      <p:sp>
        <p:nvSpPr>
          <p:cNvPr id="230" name="Google Shape;230;p18"/>
          <p:cNvSpPr txBox="1"/>
          <p:nvPr/>
        </p:nvSpPr>
        <p:spPr>
          <a:xfrm>
            <a:off x="457200" y="1920240"/>
            <a:ext cx="5303400" cy="14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Duplicated template logic across views (same label/value rows repeated by hand)</a:t>
            </a:r>
            <a:endParaRPr sz="15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Duplicated slideshow code in home.vue and about.vue (~80 lines each)</a:t>
            </a:r>
            <a:endParaRPr sz="150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No consistent reuse of existing atoms (ExtraChip used in RoomCard but not in confirmation view)</a:t>
            </a:r>
            <a:endParaRPr sz="1500"/>
          </a:p>
        </p:txBody>
      </p:sp>
      <p:sp>
        <p:nvSpPr>
          <p:cNvPr id="231" name="Google Shape;231;p18"/>
          <p:cNvSpPr txBox="1"/>
          <p:nvPr/>
        </p:nvSpPr>
        <p:spPr>
          <a:xfrm>
            <a:off x="457200" y="34747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What we changed (with AI)</a:t>
            </a: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457200" y="3986784"/>
            <a:ext cx="54864" cy="274320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8"/>
          <p:cNvSpPr txBox="1"/>
          <p:nvPr/>
        </p:nvSpPr>
        <p:spPr>
          <a:xfrm>
            <a:off x="640080" y="3931920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atoms/DetailRow.vue</a:t>
            </a:r>
            <a:endParaRPr sz="1700"/>
          </a:p>
        </p:txBody>
      </p:sp>
      <p:sp>
        <p:nvSpPr>
          <p:cNvPr id="234" name="Google Shape;234;p18"/>
          <p:cNvSpPr txBox="1"/>
          <p:nvPr/>
        </p:nvSpPr>
        <p:spPr>
          <a:xfrm>
            <a:off x="3019425" y="3931920"/>
            <a:ext cx="3074987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New atom: &lt;strong&gt;Label:&lt;/strong&gt; Value row - replaced 16 ion-item blocks</a:t>
            </a:r>
            <a:b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across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BookingDetailsView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BookingReviewView</a:t>
            </a:r>
            <a:endParaRPr sz="1300" dirty="0"/>
          </a:p>
        </p:txBody>
      </p:sp>
      <p:sp>
        <p:nvSpPr>
          <p:cNvPr id="235" name="Google Shape;235;p18"/>
          <p:cNvSpPr/>
          <p:nvPr/>
        </p:nvSpPr>
        <p:spPr>
          <a:xfrm>
            <a:off x="457200" y="4920234"/>
            <a:ext cx="54864" cy="274320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640080" y="4865370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molecules/</a:t>
            </a:r>
            <a:r>
              <a:rPr lang="en-US" sz="1500" b="1" i="0" dirty="0" err="1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ImageSlider.vue</a:t>
            </a:r>
            <a:endParaRPr sz="1700" dirty="0"/>
          </a:p>
        </p:txBody>
      </p:sp>
      <p:sp>
        <p:nvSpPr>
          <p:cNvPr id="237" name="Google Shape;237;p18"/>
          <p:cNvSpPr txBox="1"/>
          <p:nvPr/>
        </p:nvSpPr>
        <p:spPr>
          <a:xfrm>
            <a:off x="3019425" y="4836795"/>
            <a:ext cx="3074987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New molecule: reusable slideshow - removed ~160 lines of duplicated</a:t>
            </a:r>
            <a:b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script + template from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home.vue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about.vue</a:t>
            </a:r>
            <a:endParaRPr sz="1300" dirty="0"/>
          </a:p>
        </p:txBody>
      </p:sp>
      <p:sp>
        <p:nvSpPr>
          <p:cNvPr id="238" name="Google Shape;238;p18"/>
          <p:cNvSpPr/>
          <p:nvPr/>
        </p:nvSpPr>
        <p:spPr>
          <a:xfrm>
            <a:off x="457200" y="5825109"/>
            <a:ext cx="54864" cy="274320"/>
          </a:xfrm>
          <a:prstGeom prst="rect">
            <a:avLst/>
          </a:prstGeom>
          <a:solidFill>
            <a:srgbClr val="3E80C8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640080" y="5770245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 err="1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ExtraChip</a:t>
            </a:r>
            <a:r>
              <a:rPr lang="en-US" sz="1500" b="1" i="0" dirty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 (extended)</a:t>
            </a:r>
            <a:endParaRPr sz="1700" dirty="0"/>
          </a:p>
        </p:txBody>
      </p:sp>
      <p:sp>
        <p:nvSpPr>
          <p:cNvPr id="240" name="Google Shape;240;p18"/>
          <p:cNvSpPr txBox="1"/>
          <p:nvPr/>
        </p:nvSpPr>
        <p:spPr>
          <a:xfrm>
            <a:off x="3019425" y="5732145"/>
            <a:ext cx="3074987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Applied existing atom in </a:t>
            </a: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BookingDetailsView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to match</a:t>
            </a:r>
            <a:b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RoomCard</a:t>
            </a:r>
            <a:r>
              <a:rPr lang="en-US" sz="1300" b="0" i="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- consistent chip rendering throughout</a:t>
            </a:r>
            <a:endParaRPr sz="1300" dirty="0"/>
          </a:p>
        </p:txBody>
      </p:sp>
      <p:sp>
        <p:nvSpPr>
          <p:cNvPr id="241" name="Google Shape;241;p18"/>
          <p:cNvSpPr/>
          <p:nvPr/>
        </p:nvSpPr>
        <p:spPr>
          <a:xfrm>
            <a:off x="6400800" y="1417320"/>
            <a:ext cx="5394960" cy="5029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6400800" y="1417320"/>
            <a:ext cx="5394960" cy="411480"/>
          </a:xfrm>
          <a:prstGeom prst="rect">
            <a:avLst/>
          </a:prstGeom>
          <a:solidFill>
            <a:srgbClr val="1A1A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 txBox="1"/>
          <p:nvPr/>
        </p:nvSpPr>
        <p:spPr>
          <a:xfrm>
            <a:off x="6537960" y="1444752"/>
            <a:ext cx="512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Atomic Design structure (after)</a:t>
            </a:r>
            <a:endParaRPr sz="1700"/>
          </a:p>
        </p:txBody>
      </p:sp>
      <p:sp>
        <p:nvSpPr>
          <p:cNvPr id="244" name="Google Shape;244;p18"/>
          <p:cNvSpPr txBox="1"/>
          <p:nvPr/>
        </p:nvSpPr>
        <p:spPr>
          <a:xfrm>
            <a:off x="6583680" y="1920240"/>
            <a:ext cx="13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atoms/</a:t>
            </a:r>
            <a:endParaRPr sz="1800"/>
          </a:p>
        </p:txBody>
      </p:sp>
      <p:sp>
        <p:nvSpPr>
          <p:cNvPr id="245" name="Google Shape;245;p18"/>
          <p:cNvSpPr txBox="1"/>
          <p:nvPr/>
        </p:nvSpPr>
        <p:spPr>
          <a:xfrm>
            <a:off x="7955279" y="1920240"/>
            <a:ext cx="356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ExtraChip  ·  AvailabilityBadge  ·  DetailRow</a:t>
            </a:r>
            <a:endParaRPr sz="1600"/>
          </a:p>
        </p:txBody>
      </p:sp>
      <p:sp>
        <p:nvSpPr>
          <p:cNvPr id="246" name="Google Shape;246;p18"/>
          <p:cNvSpPr txBox="1"/>
          <p:nvPr/>
        </p:nvSpPr>
        <p:spPr>
          <a:xfrm>
            <a:off x="6583680" y="2322576"/>
            <a:ext cx="13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molecules/</a:t>
            </a:r>
            <a:endParaRPr sz="1800"/>
          </a:p>
        </p:txBody>
      </p:sp>
      <p:sp>
        <p:nvSpPr>
          <p:cNvPr id="247" name="Google Shape;247;p18"/>
          <p:cNvSpPr txBox="1"/>
          <p:nvPr/>
        </p:nvSpPr>
        <p:spPr>
          <a:xfrm>
            <a:off x="7955279" y="2322576"/>
            <a:ext cx="356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RoomCard  ·  BookingForm  ·  DatePickerModal</a:t>
            </a:r>
            <a:endParaRPr sz="1600"/>
          </a:p>
        </p:txBody>
      </p:sp>
      <p:sp>
        <p:nvSpPr>
          <p:cNvPr id="248" name="Google Shape;248;p18"/>
          <p:cNvSpPr txBox="1"/>
          <p:nvPr/>
        </p:nvSpPr>
        <p:spPr>
          <a:xfrm>
            <a:off x="7955279" y="2724912"/>
            <a:ext cx="356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ImageSlider  ·  SharedHeader  ·  SharedFooter</a:t>
            </a:r>
            <a:endParaRPr sz="1600"/>
          </a:p>
        </p:txBody>
      </p:sp>
      <p:sp>
        <p:nvSpPr>
          <p:cNvPr id="249" name="Google Shape;249;p18"/>
          <p:cNvSpPr txBox="1"/>
          <p:nvPr/>
        </p:nvSpPr>
        <p:spPr>
          <a:xfrm>
            <a:off x="6583680" y="3127248"/>
            <a:ext cx="137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3E80C8"/>
                </a:solidFill>
                <a:latin typeface="Calibri"/>
                <a:ea typeface="Calibri"/>
                <a:cs typeface="Calibri"/>
                <a:sym typeface="Calibri"/>
              </a:rPr>
              <a:t>organisms/</a:t>
            </a:r>
            <a:endParaRPr sz="1800"/>
          </a:p>
        </p:txBody>
      </p:sp>
      <p:sp>
        <p:nvSpPr>
          <p:cNvPr id="250" name="Google Shape;250;p18"/>
          <p:cNvSpPr txBox="1"/>
          <p:nvPr/>
        </p:nvSpPr>
        <p:spPr>
          <a:xfrm>
            <a:off x="7955279" y="3127248"/>
            <a:ext cx="356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RoomList  ·  FilterBar</a:t>
            </a:r>
            <a:endParaRPr sz="1600"/>
          </a:p>
        </p:txBody>
      </p:sp>
      <p:sp>
        <p:nvSpPr>
          <p:cNvPr id="251" name="Google Shape;251;p18"/>
          <p:cNvSpPr txBox="1"/>
          <p:nvPr/>
        </p:nvSpPr>
        <p:spPr>
          <a:xfrm>
            <a:off x="6583680" y="3749039"/>
            <a:ext cx="5029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>
                <a:solidFill>
                  <a:srgbClr val="E85D04"/>
                </a:solidFill>
                <a:latin typeface="Calibri"/>
                <a:ea typeface="Calibri"/>
                <a:cs typeface="Calibri"/>
                <a:sym typeface="Calibri"/>
              </a:rPr>
              <a:t>What we scoped out (not actioned)</a:t>
            </a:r>
            <a:endParaRPr sz="1700"/>
          </a:p>
        </p:txBody>
      </p:sp>
      <p:sp>
        <p:nvSpPr>
          <p:cNvPr id="252" name="Google Shape;252;p18"/>
          <p:cNvSpPr txBox="1"/>
          <p:nvPr/>
        </p:nvSpPr>
        <p:spPr>
          <a:xfrm>
            <a:off x="6583680" y="4160520"/>
            <a:ext cx="5029200" cy="8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 sz="150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HotelConfig</a:t>
            </a:r>
            <a:r>
              <a:rPr lang="en-US" sz="15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lang="en-US" sz="150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HotelDto</a:t>
            </a:r>
            <a:r>
              <a:rPr lang="en-US" sz="15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cross-layer dep. - non-functional, deferred</a:t>
            </a:r>
            <a:endParaRPr sz="1700"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▸ </a:t>
            </a:r>
            <a:r>
              <a:rPr lang="en-US" sz="1500" dirty="0" err="1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FilterBar</a:t>
            </a:r>
            <a:r>
              <a:rPr lang="en-US" sz="1500" dirty="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untyped props - low priority, no TypeScript errors</a:t>
            </a:r>
            <a:endParaRPr sz="1700" dirty="0"/>
          </a:p>
        </p:txBody>
      </p:sp>
      <p:sp>
        <p:nvSpPr>
          <p:cNvPr id="253" name="Google Shape;253;p18"/>
          <p:cNvSpPr txBox="1"/>
          <p:nvPr/>
        </p:nvSpPr>
        <p:spPr>
          <a:xfrm>
            <a:off x="6583680" y="5166360"/>
            <a:ext cx="5029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6B7A99"/>
                </a:solidFill>
                <a:latin typeface="Calibri"/>
                <a:ea typeface="Calibri"/>
                <a:cs typeface="Calibri"/>
                <a:sym typeface="Calibri"/>
              </a:rPr>
              <a:t>Human decision: scoped to high-impact duplications only - explicit choice not to over-refactor</a:t>
            </a:r>
            <a:endParaRPr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1132</Words>
  <Application>Microsoft Office PowerPoint</Application>
  <PresentationFormat>Benutzerdefiniert</PresentationFormat>
  <Paragraphs>140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Droid Serif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Patrick Artner</cp:lastModifiedBy>
  <cp:revision>8</cp:revision>
  <dcterms:modified xsi:type="dcterms:W3CDTF">2026-06-10T09:33:16Z</dcterms:modified>
</cp:coreProperties>
</file>